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90" r:id="rId3"/>
    <p:sldId id="289" r:id="rId4"/>
    <p:sldId id="275" r:id="rId5"/>
    <p:sldId id="286" r:id="rId6"/>
    <p:sldId id="291" r:id="rId7"/>
    <p:sldId id="293" r:id="rId8"/>
    <p:sldId id="295" r:id="rId9"/>
    <p:sldId id="296" r:id="rId10"/>
    <p:sldId id="284" r:id="rId11"/>
    <p:sldId id="281" r:id="rId12"/>
    <p:sldId id="283" r:id="rId13"/>
    <p:sldId id="285" r:id="rId14"/>
    <p:sldId id="297" r:id="rId15"/>
    <p:sldId id="298" r:id="rId16"/>
  </p:sldIdLst>
  <p:sldSz cx="10160000" cy="5715000"/>
  <p:notesSz cx="6858000" cy="9144000"/>
  <p:defaultTextStyle>
    <a:defPPr>
      <a:defRPr lang="en-US"/>
    </a:defPPr>
    <a:lvl1pPr marL="0" algn="l" defTabSz="356616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1pPr>
    <a:lvl2pPr marL="356616" algn="l" defTabSz="356616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2pPr>
    <a:lvl3pPr marL="713232" algn="l" defTabSz="356616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3pPr>
    <a:lvl4pPr marL="1069848" algn="l" defTabSz="356616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4pPr>
    <a:lvl5pPr marL="1426464" algn="l" defTabSz="356616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5pPr>
    <a:lvl6pPr marL="1783080" algn="l" defTabSz="356616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6pPr>
    <a:lvl7pPr marL="2139696" algn="l" defTabSz="356616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7pPr>
    <a:lvl8pPr marL="2496312" algn="l" defTabSz="356616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8pPr>
    <a:lvl9pPr marL="2852928" algn="l" defTabSz="356616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9385F295-ED4F-45F4-982F-91CF603DBBB6}">
          <p14:sldIdLst>
            <p14:sldId id="256"/>
            <p14:sldId id="290"/>
            <p14:sldId id="289"/>
            <p14:sldId id="275"/>
            <p14:sldId id="286"/>
            <p14:sldId id="291"/>
            <p14:sldId id="293"/>
            <p14:sldId id="295"/>
            <p14:sldId id="296"/>
            <p14:sldId id="284"/>
            <p14:sldId id="281"/>
            <p14:sldId id="283"/>
            <p14:sldId id="285"/>
            <p14:sldId id="297"/>
          </p14:sldIdLst>
        </p14:section>
        <p14:section name="Workshop" id="{93C68CD5-F8CE-4647-802B-E999E0B58C69}">
          <p14:sldIdLst>
            <p14:sldId id="29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800" userDrawn="1">
          <p15:clr>
            <a:srgbClr val="A4A3A4"/>
          </p15:clr>
        </p15:guide>
        <p15:guide id="2" pos="320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CBC14"/>
    <a:srgbClr val="0C151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1D1C3F0-4FBC-3833-A8DB-A11F460904F2}" v="47" dt="2026-05-25T07:49:53.988"/>
    <p1510:client id="{8D8CE393-92C1-496C-BAED-AEF6D7BCA73C}" v="216" dt="2026-05-26T03:03:38.20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3" d="100"/>
          <a:sy n="83" d="100"/>
        </p:scale>
        <p:origin x="536" y="64"/>
      </p:cViewPr>
      <p:guideLst>
        <p:guide orient="horz" pos="1800"/>
        <p:guide pos="320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62000" y="1775356"/>
            <a:ext cx="8636000" cy="122502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238500"/>
            <a:ext cx="7112000" cy="14605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2570" y="3672419"/>
            <a:ext cx="8636000" cy="1135063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02570" y="2422261"/>
            <a:ext cx="8636000" cy="1250156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8000" y="1333501"/>
            <a:ext cx="4487333" cy="3771636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64667" y="1333501"/>
            <a:ext cx="4487333" cy="3771636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0" y="1279262"/>
            <a:ext cx="4489098" cy="53313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000" y="1812396"/>
            <a:ext cx="4489098" cy="3292740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61141" y="1279262"/>
            <a:ext cx="4490861" cy="53313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161141" y="1812396"/>
            <a:ext cx="4490861" cy="3292740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2" y="227543"/>
            <a:ext cx="3342570" cy="968375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72278" y="227543"/>
            <a:ext cx="5679722" cy="4877594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8002" y="1195919"/>
            <a:ext cx="3342570" cy="3909219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91431" y="4000500"/>
            <a:ext cx="6096000" cy="472282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991431" y="510646"/>
            <a:ext cx="6096000" cy="34290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91431" y="4472782"/>
            <a:ext cx="6096000" cy="670718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66000" y="228867"/>
            <a:ext cx="2286000" cy="4876271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08000" y="228867"/>
            <a:ext cx="6688667" cy="487627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5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08000" y="228865"/>
            <a:ext cx="9144000" cy="9525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0" y="1333501"/>
            <a:ext cx="9144000" cy="37716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08000" y="5296961"/>
            <a:ext cx="2370667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71334" y="5296961"/>
            <a:ext cx="3217333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281333" y="5296961"/>
            <a:ext cx="2370667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175" indent="-257175" algn="l" defTabSz="3429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defTabSz="342900" rtl="0" eaLnBrk="1" latinLnBrk="0" hangingPunct="1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3429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342900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342900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emi.re/algo.html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sv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tmp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tmp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tmp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thassanunsat-art/WS_POwerBI/blob/main/WS1-Get%20data.md" TargetMode="Externa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thassanunsat-art/WS_POwerBI/blob/main/WS1-Get%20data.md" TargetMode="External"/><Relationship Id="rId7" Type="http://schemas.openxmlformats.org/officeDocument/2006/relationships/image" Target="../media/image9.png"/><Relationship Id="rId2" Type="http://schemas.openxmlformats.org/officeDocument/2006/relationships/hyperlink" Target="https://github.com/thassanunsat-art/WS_POwerBI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github.com/thassanunsat-art/WS_POwerBI/blob/main/WS4-Visualization.md" TargetMode="External"/><Relationship Id="rId5" Type="http://schemas.openxmlformats.org/officeDocument/2006/relationships/hyperlink" Target="WS3-Data%20Modelmd" TargetMode="External"/><Relationship Id="rId4" Type="http://schemas.openxmlformats.org/officeDocument/2006/relationships/hyperlink" Target="https://github.com/thassanunsat-art/WS_POwerBI/blob/main/WS2-Data%20Cleaning.md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BC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633463" y="4853178"/>
            <a:ext cx="1677035" cy="390906"/>
          </a:xfrm>
        </p:spPr>
        <p:txBody>
          <a:bodyPr vert="horz" lIns="68580" tIns="34290" rIns="68580" bIns="34290" rtlCol="0" anchor="t">
            <a:normAutofit fontScale="85000" lnSpcReduction="10000"/>
          </a:bodyPr>
          <a:lstStyle/>
          <a:p>
            <a:r>
              <a:rPr b="1" dirty="0">
                <a:solidFill>
                  <a:schemeClr val="tx1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27 </a:t>
            </a:r>
            <a:r>
              <a:rPr b="1" dirty="0" err="1">
                <a:solidFill>
                  <a:schemeClr val="tx1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พฤษภาคม</a:t>
            </a:r>
            <a:r>
              <a:rPr b="1" dirty="0">
                <a:solidFill>
                  <a:schemeClr val="tx1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 2569</a:t>
            </a:r>
            <a:endParaRPr b="1" dirty="0">
              <a:solidFill>
                <a:schemeClr val="tx1"/>
              </a:solidFill>
              <a:latin typeface="TH SarabunPSK" panose="020B0500040200020003" pitchFamily="34" charset="-34"/>
              <a:ea typeface="Calibri"/>
              <a:cs typeface="TH SarabunPSK" panose="020B0500040200020003" pitchFamily="34" charset="-34"/>
            </a:endParaRPr>
          </a:p>
        </p:txBody>
      </p:sp>
      <p:pic>
        <p:nvPicPr>
          <p:cNvPr id="12" name="รูปภาพ 11" descr="รูปภาพประกอบด้วย สีเหลือง, ตัวอักษร, กราฟิก, เครื่องหมาย&#10;&#10;เนื้อหาที่สร้างโดย AI อาจไม่ถูกต้อง">
            <a:extLst>
              <a:ext uri="{FF2B5EF4-FFF2-40B4-BE49-F238E27FC236}">
                <a16:creationId xmlns:a16="http://schemas.microsoft.com/office/drawing/2014/main" id="{82E72D3C-64D7-7F96-5E23-1D052CF46F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284121" y="981370"/>
            <a:ext cx="2778125" cy="27305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3138E62-FC1E-B4C9-BDA7-97DDFC2E18A9}"/>
              </a:ext>
            </a:extLst>
          </p:cNvPr>
          <p:cNvSpPr txBox="1"/>
          <p:nvPr/>
        </p:nvSpPr>
        <p:spPr>
          <a:xfrm>
            <a:off x="3361266" y="1300250"/>
            <a:ext cx="7298267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72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Introduction </a:t>
            </a:r>
          </a:p>
          <a:p>
            <a:r>
              <a:rPr lang="en-GB" sz="72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to Power BI</a:t>
            </a:r>
            <a:endParaRPr lang="th-TH" sz="7200" b="1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58E86F-2DED-29CE-3D5C-831F14B108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E05051-536F-4D4A-3334-A8181D7749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th-TH" b="1" dirty="0">
                <a:solidFill>
                  <a:srgbClr val="ECBC14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วัตถุประสงค์การอบรม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112BF1-525D-7A2F-E55E-1DC79B01B1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8000" y="2012950"/>
            <a:ext cx="6688667" cy="1358899"/>
          </a:xfrm>
        </p:spPr>
        <p:txBody>
          <a:bodyPr>
            <a:noAutofit/>
          </a:bodyPr>
          <a:lstStyle/>
          <a:p>
            <a:pPr>
              <a:lnSpc>
                <a:spcPct val="160000"/>
              </a:lnSpc>
            </a:pPr>
            <a:r>
              <a:rPr lang="th-TH" sz="2000" dirty="0">
                <a:solidFill>
                  <a:schemeClr val="accent5">
                    <a:lumMod val="20000"/>
                    <a:lumOff val="80000"/>
                  </a:schemeClr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เข้าใจแนวคิด </a:t>
            </a:r>
            <a:r>
              <a:rPr lang="en-GB" sz="2000" dirty="0">
                <a:solidFill>
                  <a:schemeClr val="accent5">
                    <a:lumMod val="20000"/>
                    <a:lumOff val="80000"/>
                  </a:schemeClr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Business Intelligence</a:t>
            </a:r>
            <a:endParaRPr lang="th-TH" sz="2000" dirty="0">
              <a:solidFill>
                <a:schemeClr val="accent5">
                  <a:lumMod val="20000"/>
                  <a:lumOff val="80000"/>
                </a:schemeClr>
              </a:solidFill>
              <a:latin typeface="Prompt" panose="00000500000000000000" pitchFamily="2" charset="-34"/>
              <a:cs typeface="Prompt" panose="00000500000000000000" pitchFamily="2" charset="-34"/>
            </a:endParaRPr>
          </a:p>
          <a:p>
            <a:pPr>
              <a:lnSpc>
                <a:spcPct val="160000"/>
              </a:lnSpc>
            </a:pPr>
            <a:r>
              <a:rPr lang="th-TH" sz="2000" dirty="0">
                <a:solidFill>
                  <a:schemeClr val="accent5">
                    <a:lumMod val="20000"/>
                    <a:lumOff val="80000"/>
                  </a:schemeClr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รู้จักองค์ประกอบหลักของ </a:t>
            </a:r>
            <a:r>
              <a:rPr lang="en-GB" sz="2000" dirty="0">
                <a:solidFill>
                  <a:schemeClr val="accent5">
                    <a:lumMod val="20000"/>
                    <a:lumOff val="80000"/>
                  </a:schemeClr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Power BI</a:t>
            </a:r>
            <a:endParaRPr lang="th-TH" sz="2000" dirty="0">
              <a:solidFill>
                <a:schemeClr val="accent5">
                  <a:lumMod val="20000"/>
                  <a:lumOff val="80000"/>
                </a:schemeClr>
              </a:solidFill>
              <a:latin typeface="Prompt" panose="00000500000000000000" pitchFamily="2" charset="-34"/>
              <a:cs typeface="Prompt" panose="00000500000000000000" pitchFamily="2" charset="-34"/>
            </a:endParaRPr>
          </a:p>
          <a:p>
            <a:pPr>
              <a:lnSpc>
                <a:spcPct val="160000"/>
              </a:lnSpc>
            </a:pPr>
            <a:r>
              <a:rPr lang="th-TH" sz="2000" dirty="0">
                <a:solidFill>
                  <a:schemeClr val="accent5">
                    <a:lumMod val="20000"/>
                    <a:lumOff val="80000"/>
                  </a:schemeClr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เห็นตัวอย่าง </a:t>
            </a:r>
            <a:r>
              <a:rPr lang="en-GB" sz="2000" dirty="0">
                <a:solidFill>
                  <a:schemeClr val="accent5">
                    <a:lumMod val="20000"/>
                    <a:lumOff val="80000"/>
                  </a:schemeClr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Workflow </a:t>
            </a:r>
            <a:r>
              <a:rPr lang="th-TH" sz="2000" dirty="0">
                <a:solidFill>
                  <a:schemeClr val="accent5">
                    <a:lumMod val="20000"/>
                    <a:lumOff val="80000"/>
                  </a:schemeClr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ตั้งแต่ข้อมูล → รายงาน</a:t>
            </a:r>
          </a:p>
          <a:p>
            <a:pPr>
              <a:lnSpc>
                <a:spcPct val="160000"/>
              </a:lnSpc>
            </a:pPr>
            <a:r>
              <a:rPr lang="th-TH" sz="2000" dirty="0">
                <a:solidFill>
                  <a:schemeClr val="accent5">
                    <a:lumMod val="20000"/>
                    <a:lumOff val="80000"/>
                  </a:schemeClr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พร้อมเริ่มต้นใช้งานจริง</a:t>
            </a:r>
          </a:p>
        </p:txBody>
      </p:sp>
    </p:spTree>
    <p:extLst>
      <p:ext uri="{BB962C8B-B14F-4D97-AF65-F5344CB8AC3E}">
        <p14:creationId xmlns:p14="http://schemas.microsoft.com/office/powerpoint/2010/main" val="35292826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D18506-362C-6B56-CC35-2DD67A49EA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AA392-BEBA-B0E9-EEC2-3625062968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GB" b="1" dirty="0">
                <a:solidFill>
                  <a:srgbClr val="ECBC14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Power BI </a:t>
            </a:r>
            <a:r>
              <a:rPr lang="th-TH" b="1" dirty="0">
                <a:solidFill>
                  <a:srgbClr val="ECBC14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ใช้กับงานอะไรได้บ้าง </a:t>
            </a:r>
            <a:r>
              <a:rPr lang="en-US" b="1" dirty="0">
                <a:solidFill>
                  <a:srgbClr val="FF0000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?</a:t>
            </a:r>
            <a:endParaRPr lang="th-TH" b="1" dirty="0">
              <a:solidFill>
                <a:srgbClr val="FF0000"/>
              </a:solidFill>
              <a:latin typeface="Prompt" panose="00000500000000000000" pitchFamily="2" charset="-34"/>
              <a:cs typeface="Prompt" panose="00000500000000000000" pitchFamily="2" charset="-3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C49E02-B7BC-A2FB-BDEE-EEBFC87FB2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8000" y="2012950"/>
            <a:ext cx="6688667" cy="1358899"/>
          </a:xfrm>
        </p:spPr>
        <p:txBody>
          <a:bodyPr>
            <a:noAutofit/>
          </a:bodyPr>
          <a:lstStyle/>
          <a:p>
            <a:pPr>
              <a:lnSpc>
                <a:spcPct val="160000"/>
              </a:lnSpc>
            </a:pPr>
            <a:r>
              <a:rPr lang="th-TH" sz="2000" dirty="0">
                <a:solidFill>
                  <a:schemeClr val="accent5">
                    <a:lumMod val="20000"/>
                    <a:lumOff val="80000"/>
                  </a:schemeClr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รายงานตัวชี้วัด (</a:t>
            </a:r>
            <a:r>
              <a:rPr lang="en-GB" sz="2000" dirty="0">
                <a:solidFill>
                  <a:schemeClr val="accent5">
                    <a:lumMod val="20000"/>
                    <a:lumOff val="80000"/>
                  </a:schemeClr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KPI)</a:t>
            </a:r>
            <a:endParaRPr lang="th-TH" sz="2000" dirty="0">
              <a:solidFill>
                <a:schemeClr val="accent5">
                  <a:lumMod val="20000"/>
                  <a:lumOff val="80000"/>
                </a:schemeClr>
              </a:solidFill>
              <a:latin typeface="Prompt" panose="00000500000000000000" pitchFamily="2" charset="-34"/>
              <a:cs typeface="Prompt" panose="00000500000000000000" pitchFamily="2" charset="-34"/>
            </a:endParaRPr>
          </a:p>
          <a:p>
            <a:pPr>
              <a:lnSpc>
                <a:spcPct val="160000"/>
              </a:lnSpc>
            </a:pPr>
            <a:r>
              <a:rPr lang="th-TH" sz="2000" dirty="0">
                <a:solidFill>
                  <a:schemeClr val="accent5">
                    <a:lumMod val="20000"/>
                    <a:lumOff val="80000"/>
                  </a:schemeClr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ติดตามผลโครงการ</a:t>
            </a:r>
          </a:p>
          <a:p>
            <a:pPr>
              <a:lnSpc>
                <a:spcPct val="160000"/>
              </a:lnSpc>
            </a:pPr>
            <a:r>
              <a:rPr lang="th-TH" sz="2000" dirty="0">
                <a:solidFill>
                  <a:schemeClr val="accent5">
                    <a:lumMod val="20000"/>
                    <a:lumOff val="80000"/>
                  </a:schemeClr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วิเคราะห์แนวโน้มข้อมูล</a:t>
            </a:r>
          </a:p>
          <a:p>
            <a:pPr>
              <a:lnSpc>
                <a:spcPct val="160000"/>
              </a:lnSpc>
            </a:pPr>
            <a:r>
              <a:rPr lang="th-TH" sz="2000" dirty="0">
                <a:solidFill>
                  <a:schemeClr val="accent5">
                    <a:lumMod val="20000"/>
                    <a:lumOff val="80000"/>
                  </a:schemeClr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รายงานผู้บริหาร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1265350-CA7F-83C9-8BFF-FCE08675C5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1142" y="1354666"/>
            <a:ext cx="6224830" cy="3501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94593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3D3C5511-F63F-21D6-30D2-926D3F495760}"/>
              </a:ext>
            </a:extLst>
          </p:cNvPr>
          <p:cNvSpPr/>
          <p:nvPr/>
        </p:nvSpPr>
        <p:spPr>
          <a:xfrm>
            <a:off x="210557" y="1597324"/>
            <a:ext cx="3042000" cy="3600000"/>
          </a:xfrm>
          <a:prstGeom prst="roundRect">
            <a:avLst>
              <a:gd name="adj" fmla="val 5063"/>
            </a:avLst>
          </a:prstGeom>
          <a:solidFill>
            <a:schemeClr val="tx2">
              <a:lumMod val="5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 sz="1600" dirty="0">
              <a:solidFill>
                <a:schemeClr val="tx2">
                  <a:lumMod val="60000"/>
                  <a:lumOff val="40000"/>
                </a:schemeClr>
              </a:solidFill>
              <a:latin typeface="Prompt" panose="00000500000000000000" pitchFamily="2" charset="-34"/>
              <a:cs typeface="Prompt" panose="00000500000000000000" pitchFamily="2" charset="-34"/>
            </a:endParaRPr>
          </a:p>
          <a:p>
            <a:pPr algn="ctr"/>
            <a:endParaRPr lang="th-TH" sz="1600" dirty="0">
              <a:solidFill>
                <a:schemeClr val="tx2">
                  <a:lumMod val="60000"/>
                  <a:lumOff val="40000"/>
                </a:schemeClr>
              </a:solidFill>
              <a:latin typeface="Prompt" panose="00000500000000000000" pitchFamily="2" charset="-34"/>
              <a:cs typeface="Prompt" panose="00000500000000000000" pitchFamily="2" charset="-34"/>
            </a:endParaRPr>
          </a:p>
          <a:p>
            <a:pPr algn="ctr"/>
            <a:endParaRPr lang="th-TH" sz="1600" dirty="0">
              <a:solidFill>
                <a:schemeClr val="tx2">
                  <a:lumMod val="60000"/>
                  <a:lumOff val="40000"/>
                </a:schemeClr>
              </a:solidFill>
              <a:latin typeface="Prompt" panose="00000500000000000000" pitchFamily="2" charset="-34"/>
              <a:cs typeface="Prompt" panose="00000500000000000000" pitchFamily="2" charset="-34"/>
            </a:endParaRPr>
          </a:p>
          <a:p>
            <a:pPr algn="ctr"/>
            <a:endParaRPr lang="th-TH" sz="1600" dirty="0">
              <a:solidFill>
                <a:schemeClr val="tx2">
                  <a:lumMod val="60000"/>
                  <a:lumOff val="40000"/>
                </a:schemeClr>
              </a:solidFill>
              <a:latin typeface="Prompt" panose="00000500000000000000" pitchFamily="2" charset="-34"/>
              <a:cs typeface="Prompt" panose="00000500000000000000" pitchFamily="2" charset="-34"/>
            </a:endParaRPr>
          </a:p>
          <a:p>
            <a:pPr algn="ctr"/>
            <a:r>
              <a:rPr lang="th-TH" sz="1600" dirty="0">
                <a:solidFill>
                  <a:schemeClr val="tx2">
                    <a:lumMod val="60000"/>
                    <a:lumOff val="40000"/>
                  </a:schemeClr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โปรแกรมประเภท </a:t>
            </a:r>
            <a:r>
              <a:rPr lang="en-GB" sz="1600" dirty="0">
                <a:solidFill>
                  <a:schemeClr val="tx2">
                    <a:lumMod val="60000"/>
                    <a:lumOff val="40000"/>
                  </a:schemeClr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Client-side </a:t>
            </a:r>
            <a:r>
              <a:rPr lang="th-TH" sz="1600" dirty="0">
                <a:solidFill>
                  <a:schemeClr val="tx2">
                    <a:lumMod val="60000"/>
                    <a:lumOff val="40000"/>
                  </a:schemeClr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ติดตั้งบน </a:t>
            </a:r>
            <a:r>
              <a:rPr lang="en-GB" sz="1600" dirty="0">
                <a:solidFill>
                  <a:schemeClr val="tx2">
                    <a:lumMod val="60000"/>
                    <a:lumOff val="40000"/>
                  </a:schemeClr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Windows </a:t>
            </a:r>
            <a:r>
              <a:rPr lang="th-TH" sz="1600" dirty="0">
                <a:solidFill>
                  <a:schemeClr val="tx2">
                    <a:lumMod val="60000"/>
                    <a:lumOff val="40000"/>
                  </a:schemeClr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สำหรับเชื่อมโยงแหล่งข้อมูล ปรับแต่งข้อมูลดิบ และสร้างสรรค์ตัวรายงานเชิงลึก (</a:t>
            </a:r>
            <a:r>
              <a:rPr lang="en-GB" sz="1600" dirty="0">
                <a:solidFill>
                  <a:schemeClr val="tx2">
                    <a:lumMod val="60000"/>
                    <a:lumOff val="40000"/>
                  </a:schemeClr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Local Report Authoring)</a:t>
            </a:r>
            <a:endParaRPr lang="th-TH" sz="1100" dirty="0">
              <a:solidFill>
                <a:schemeClr val="tx2">
                  <a:lumMod val="60000"/>
                  <a:lumOff val="40000"/>
                </a:schemeClr>
              </a:solidFill>
              <a:latin typeface="Prompt" panose="00000500000000000000" pitchFamily="2" charset="-34"/>
              <a:cs typeface="Prompt" panose="00000500000000000000" pitchFamily="2" charset="-34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F880577B-BA81-9E0B-0A09-3A61BB9C4DB6}"/>
              </a:ext>
            </a:extLst>
          </p:cNvPr>
          <p:cNvSpPr/>
          <p:nvPr/>
        </p:nvSpPr>
        <p:spPr>
          <a:xfrm>
            <a:off x="3625374" y="1611911"/>
            <a:ext cx="3042000" cy="3600000"/>
          </a:xfrm>
          <a:prstGeom prst="roundRect">
            <a:avLst>
              <a:gd name="adj" fmla="val 5063"/>
            </a:avLst>
          </a:prstGeom>
          <a:solidFill>
            <a:schemeClr val="tx2">
              <a:lumMod val="5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 sz="1600" dirty="0">
              <a:solidFill>
                <a:schemeClr val="tx2">
                  <a:lumMod val="60000"/>
                  <a:lumOff val="40000"/>
                </a:schemeClr>
              </a:solidFill>
              <a:latin typeface="Prompt" panose="00000500000000000000" pitchFamily="2" charset="-34"/>
              <a:cs typeface="Prompt" panose="00000500000000000000" pitchFamily="2" charset="-34"/>
            </a:endParaRPr>
          </a:p>
          <a:p>
            <a:pPr algn="ctr"/>
            <a:endParaRPr lang="th-TH" sz="1600" dirty="0">
              <a:solidFill>
                <a:schemeClr val="tx2">
                  <a:lumMod val="60000"/>
                  <a:lumOff val="40000"/>
                </a:schemeClr>
              </a:solidFill>
              <a:latin typeface="Prompt" panose="00000500000000000000" pitchFamily="2" charset="-34"/>
              <a:cs typeface="Prompt" panose="00000500000000000000" pitchFamily="2" charset="-34"/>
            </a:endParaRPr>
          </a:p>
          <a:p>
            <a:pPr algn="ctr"/>
            <a:endParaRPr lang="th-TH" sz="1600" dirty="0">
              <a:solidFill>
                <a:schemeClr val="tx2">
                  <a:lumMod val="60000"/>
                  <a:lumOff val="40000"/>
                </a:schemeClr>
              </a:solidFill>
              <a:latin typeface="Prompt" panose="00000500000000000000" pitchFamily="2" charset="-34"/>
              <a:cs typeface="Prompt" panose="00000500000000000000" pitchFamily="2" charset="-34"/>
            </a:endParaRPr>
          </a:p>
          <a:p>
            <a:pPr algn="ctr"/>
            <a:endParaRPr lang="th-TH" sz="1600" dirty="0">
              <a:solidFill>
                <a:schemeClr val="tx2">
                  <a:lumMod val="60000"/>
                  <a:lumOff val="40000"/>
                </a:schemeClr>
              </a:solidFill>
              <a:latin typeface="Prompt" panose="00000500000000000000" pitchFamily="2" charset="-34"/>
              <a:cs typeface="Prompt" panose="00000500000000000000" pitchFamily="2" charset="-34"/>
            </a:endParaRPr>
          </a:p>
          <a:p>
            <a:pPr algn="ctr"/>
            <a:r>
              <a:rPr lang="th-TH" sz="1600" dirty="0">
                <a:solidFill>
                  <a:schemeClr val="tx2">
                    <a:lumMod val="60000"/>
                    <a:lumOff val="40000"/>
                  </a:schemeClr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ระบบคลาวด์ออนไลน์ (</a:t>
            </a:r>
            <a:r>
              <a:rPr lang="en-GB" sz="1600" dirty="0">
                <a:solidFill>
                  <a:schemeClr val="tx2">
                    <a:lumMod val="60000"/>
                    <a:lumOff val="40000"/>
                  </a:schemeClr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SaaS) </a:t>
            </a:r>
            <a:r>
              <a:rPr lang="th-TH" sz="1600" dirty="0">
                <a:solidFill>
                  <a:schemeClr val="tx2">
                    <a:lumMod val="60000"/>
                    <a:lumOff val="40000"/>
                  </a:schemeClr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ใช้เป็นศูนย์กลางในการอัปโหลดแบ่งปันรายงาน สร้างแดชบอร์ดสรุป และตั้งรอบอัปเดตข้อมูลอัตโนมัติ (</a:t>
            </a:r>
            <a:r>
              <a:rPr lang="en-GB" sz="1600" dirty="0">
                <a:solidFill>
                  <a:schemeClr val="tx2">
                    <a:lumMod val="60000"/>
                    <a:lumOff val="40000"/>
                  </a:schemeClr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Schedule Refresh)</a:t>
            </a:r>
            <a:endParaRPr lang="th-TH" sz="1600" dirty="0">
              <a:solidFill>
                <a:schemeClr val="tx2">
                  <a:lumMod val="60000"/>
                  <a:lumOff val="40000"/>
                </a:schemeClr>
              </a:solidFill>
              <a:latin typeface="Prompt" panose="00000500000000000000" pitchFamily="2" charset="-34"/>
              <a:cs typeface="Prompt" panose="00000500000000000000" pitchFamily="2" charset="-34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D1B7EB41-2549-31CC-809F-B9A4DDDFBC4D}"/>
              </a:ext>
            </a:extLst>
          </p:cNvPr>
          <p:cNvSpPr/>
          <p:nvPr/>
        </p:nvSpPr>
        <p:spPr>
          <a:xfrm>
            <a:off x="6841069" y="1597324"/>
            <a:ext cx="3042000" cy="3600000"/>
          </a:xfrm>
          <a:prstGeom prst="roundRect">
            <a:avLst>
              <a:gd name="adj" fmla="val 5063"/>
            </a:avLst>
          </a:prstGeom>
          <a:solidFill>
            <a:schemeClr val="tx2">
              <a:lumMod val="5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 sz="1600" dirty="0">
              <a:solidFill>
                <a:schemeClr val="tx2">
                  <a:lumMod val="60000"/>
                  <a:lumOff val="40000"/>
                </a:schemeClr>
              </a:solidFill>
              <a:latin typeface="Prompt" panose="00000500000000000000" pitchFamily="2" charset="-34"/>
              <a:cs typeface="Prompt" panose="00000500000000000000" pitchFamily="2" charset="-34"/>
            </a:endParaRPr>
          </a:p>
          <a:p>
            <a:pPr algn="ctr"/>
            <a:endParaRPr lang="th-TH" sz="1600" dirty="0">
              <a:solidFill>
                <a:schemeClr val="tx2">
                  <a:lumMod val="60000"/>
                  <a:lumOff val="40000"/>
                </a:schemeClr>
              </a:solidFill>
              <a:latin typeface="Prompt" panose="00000500000000000000" pitchFamily="2" charset="-34"/>
              <a:cs typeface="Prompt" panose="00000500000000000000" pitchFamily="2" charset="-34"/>
            </a:endParaRPr>
          </a:p>
          <a:p>
            <a:pPr algn="ctr"/>
            <a:endParaRPr lang="th-TH" sz="1600" dirty="0">
              <a:solidFill>
                <a:schemeClr val="tx2">
                  <a:lumMod val="60000"/>
                  <a:lumOff val="40000"/>
                </a:schemeClr>
              </a:solidFill>
              <a:latin typeface="Prompt" panose="00000500000000000000" pitchFamily="2" charset="-34"/>
              <a:cs typeface="Prompt" panose="00000500000000000000" pitchFamily="2" charset="-34"/>
            </a:endParaRPr>
          </a:p>
          <a:p>
            <a:pPr algn="ctr"/>
            <a:endParaRPr lang="th-TH" sz="1600" dirty="0">
              <a:solidFill>
                <a:schemeClr val="tx2">
                  <a:lumMod val="60000"/>
                  <a:lumOff val="40000"/>
                </a:schemeClr>
              </a:solidFill>
              <a:latin typeface="Prompt" panose="00000500000000000000" pitchFamily="2" charset="-34"/>
              <a:cs typeface="Prompt" panose="00000500000000000000" pitchFamily="2" charset="-34"/>
            </a:endParaRPr>
          </a:p>
          <a:p>
            <a:pPr algn="ctr"/>
            <a:endParaRPr lang="th-TH" sz="1600" dirty="0">
              <a:solidFill>
                <a:schemeClr val="tx2">
                  <a:lumMod val="60000"/>
                  <a:lumOff val="40000"/>
                </a:schemeClr>
              </a:solidFill>
              <a:latin typeface="Prompt" panose="00000500000000000000" pitchFamily="2" charset="-34"/>
              <a:cs typeface="Prompt" panose="00000500000000000000" pitchFamily="2" charset="-34"/>
            </a:endParaRPr>
          </a:p>
          <a:p>
            <a:pPr algn="ctr"/>
            <a:r>
              <a:rPr lang="th-TH" sz="1600" dirty="0">
                <a:solidFill>
                  <a:schemeClr val="tx2">
                    <a:lumMod val="60000"/>
                    <a:lumOff val="40000"/>
                  </a:schemeClr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แอปพลิเคชันสำหรับสมาร์ตโฟนและแท็บเล็ต ช่วยให้เข้าถึง สอดส่องตัวชี้วัดสำคัญ (</a:t>
            </a:r>
            <a:r>
              <a:rPr lang="en-GB" sz="1600" dirty="0">
                <a:solidFill>
                  <a:schemeClr val="tx2">
                    <a:lumMod val="60000"/>
                    <a:lumOff val="40000"/>
                  </a:schemeClr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KPIs) </a:t>
            </a:r>
            <a:r>
              <a:rPr lang="th-TH" sz="1600" dirty="0">
                <a:solidFill>
                  <a:schemeClr val="tx2">
                    <a:lumMod val="60000"/>
                    <a:lumOff val="40000"/>
                  </a:schemeClr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และรายงานได้แบบพกพาปลอดภัยทุกที่ทุกเวลา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760CDEC4-373F-8224-6C8B-FFFB85A18B00}"/>
              </a:ext>
            </a:extLst>
          </p:cNvPr>
          <p:cNvSpPr txBox="1">
            <a:spLocks/>
          </p:cNvSpPr>
          <p:nvPr/>
        </p:nvSpPr>
        <p:spPr>
          <a:xfrm>
            <a:off x="276931" y="1597589"/>
            <a:ext cx="2975626" cy="7307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2400" b="1" dirty="0">
                <a:solidFill>
                  <a:srgbClr val="ECBC14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Power BI Desktop</a:t>
            </a:r>
            <a:endParaRPr lang="th-TH" sz="2400" b="1" dirty="0">
              <a:solidFill>
                <a:srgbClr val="ECBC14"/>
              </a:solidFill>
              <a:latin typeface="Prompt" panose="00000500000000000000" pitchFamily="2" charset="-34"/>
              <a:cs typeface="Prompt" panose="00000500000000000000" pitchFamily="2" charset="-34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8D008305-5625-EA7F-3605-270748DF712C}"/>
              </a:ext>
            </a:extLst>
          </p:cNvPr>
          <p:cNvSpPr txBox="1">
            <a:spLocks/>
          </p:cNvSpPr>
          <p:nvPr/>
        </p:nvSpPr>
        <p:spPr>
          <a:xfrm>
            <a:off x="660400" y="381265"/>
            <a:ext cx="9144000" cy="9525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th-TH" b="1" dirty="0">
                <a:solidFill>
                  <a:srgbClr val="ECBC14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องค์ประกอบของ </a:t>
            </a:r>
            <a:r>
              <a:rPr lang="en-GB" b="1" dirty="0">
                <a:solidFill>
                  <a:srgbClr val="ECBC14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Power BI</a:t>
            </a:r>
            <a:endParaRPr lang="th-TH" b="1" dirty="0">
              <a:solidFill>
                <a:srgbClr val="ECBC14"/>
              </a:solidFill>
              <a:latin typeface="Prompt" panose="00000500000000000000" pitchFamily="2" charset="-34"/>
              <a:cs typeface="Prompt" panose="00000500000000000000" pitchFamily="2" charset="-34"/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C92C3CC4-DA22-17E6-EF36-2594D5E0C7E1}"/>
              </a:ext>
            </a:extLst>
          </p:cNvPr>
          <p:cNvSpPr txBox="1">
            <a:spLocks/>
          </p:cNvSpPr>
          <p:nvPr/>
        </p:nvSpPr>
        <p:spPr>
          <a:xfrm>
            <a:off x="3625374" y="1611911"/>
            <a:ext cx="2975626" cy="7307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2400" b="1" dirty="0">
                <a:solidFill>
                  <a:srgbClr val="ECBC14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Power BI Service</a:t>
            </a:r>
            <a:endParaRPr lang="th-TH" sz="2400" b="1" dirty="0">
              <a:solidFill>
                <a:srgbClr val="ECBC14"/>
              </a:solidFill>
              <a:latin typeface="Prompt" panose="00000500000000000000" pitchFamily="2" charset="-34"/>
              <a:cs typeface="Prompt" panose="00000500000000000000" pitchFamily="2" charset="-34"/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A133A702-DED4-682F-E768-AAC35C412419}"/>
              </a:ext>
            </a:extLst>
          </p:cNvPr>
          <p:cNvSpPr txBox="1">
            <a:spLocks/>
          </p:cNvSpPr>
          <p:nvPr/>
        </p:nvSpPr>
        <p:spPr>
          <a:xfrm>
            <a:off x="6874256" y="1611911"/>
            <a:ext cx="2975626" cy="7307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2400" b="1" dirty="0">
                <a:solidFill>
                  <a:srgbClr val="ECBC14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Power BI Mobile</a:t>
            </a:r>
            <a:endParaRPr lang="th-TH" sz="2400" b="1" dirty="0">
              <a:solidFill>
                <a:srgbClr val="ECBC14"/>
              </a:solidFill>
              <a:latin typeface="Prompt" panose="00000500000000000000" pitchFamily="2" charset="-34"/>
              <a:cs typeface="Prompt" panose="00000500000000000000" pitchFamily="2" charset="-34"/>
            </a:endParaRPr>
          </a:p>
        </p:txBody>
      </p:sp>
      <p:pic>
        <p:nvPicPr>
          <p:cNvPr id="15" name="Graphic 14" descr="Cloud with solid fill">
            <a:extLst>
              <a:ext uri="{FF2B5EF4-FFF2-40B4-BE49-F238E27FC236}">
                <a16:creationId xmlns:a16="http://schemas.microsoft.com/office/drawing/2014/main" id="{13BA2DD9-28F1-CECA-C735-BD89E9FB81E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655987" y="2163601"/>
            <a:ext cx="914400" cy="914400"/>
          </a:xfrm>
          <a:prstGeom prst="rect">
            <a:avLst/>
          </a:prstGeom>
        </p:spPr>
      </p:pic>
      <p:pic>
        <p:nvPicPr>
          <p:cNvPr id="17" name="Graphic 16" descr="Computer outline">
            <a:extLst>
              <a:ext uri="{FF2B5EF4-FFF2-40B4-BE49-F238E27FC236}">
                <a16:creationId xmlns:a16="http://schemas.microsoft.com/office/drawing/2014/main" id="{C0C149F4-B86A-B9FB-4408-BA59BF9FAEF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65133" y="2228567"/>
            <a:ext cx="914400" cy="914400"/>
          </a:xfrm>
          <a:prstGeom prst="rect">
            <a:avLst/>
          </a:prstGeom>
        </p:spPr>
      </p:pic>
      <p:pic>
        <p:nvPicPr>
          <p:cNvPr id="19" name="Graphic 18" descr="Smart Phone with solid fill">
            <a:extLst>
              <a:ext uri="{FF2B5EF4-FFF2-40B4-BE49-F238E27FC236}">
                <a16:creationId xmlns:a16="http://schemas.microsoft.com/office/drawing/2014/main" id="{9EE5CEC3-4B48-DD0D-74AA-7F23907DEDA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895645" y="2303899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04746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96DE0F-4557-28F0-03C3-8EE7A04158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GB" b="1" dirty="0">
                <a:solidFill>
                  <a:srgbClr val="ECBC14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Workflow </a:t>
            </a:r>
            <a:r>
              <a:rPr lang="th-TH" b="1" dirty="0">
                <a:solidFill>
                  <a:srgbClr val="ECBC14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การทำงานของ </a:t>
            </a:r>
            <a:r>
              <a:rPr lang="en-GB" b="1" dirty="0">
                <a:solidFill>
                  <a:srgbClr val="ECBC14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Power BI</a:t>
            </a:r>
            <a:endParaRPr lang="th-TH" b="1" dirty="0">
              <a:solidFill>
                <a:srgbClr val="ECBC14"/>
              </a:solidFill>
              <a:latin typeface="Prompt" panose="00000500000000000000" pitchFamily="2" charset="-34"/>
              <a:cs typeface="Prompt" panose="00000500000000000000" pitchFamily="2" charset="-3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6C119C-FF4D-205C-30DD-068B6A79F5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800" y="1471083"/>
            <a:ext cx="6688667" cy="3312583"/>
          </a:xfrm>
        </p:spPr>
        <p:txBody>
          <a:bodyPr>
            <a:noAutofit/>
          </a:bodyPr>
          <a:lstStyle/>
          <a:p>
            <a:pPr marL="457200" indent="-457200">
              <a:lnSpc>
                <a:spcPct val="160000"/>
              </a:lnSpc>
              <a:buFont typeface="+mj-lt"/>
              <a:buAutoNum type="arabicPeriod"/>
            </a:pPr>
            <a:r>
              <a:rPr lang="en-GB" sz="2000" dirty="0">
                <a:solidFill>
                  <a:schemeClr val="accent5">
                    <a:lumMod val="20000"/>
                    <a:lumOff val="80000"/>
                  </a:schemeClr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Connect Data</a:t>
            </a:r>
            <a:endParaRPr lang="th-TH" sz="2000" dirty="0">
              <a:solidFill>
                <a:schemeClr val="accent5">
                  <a:lumMod val="20000"/>
                  <a:lumOff val="80000"/>
                </a:schemeClr>
              </a:solidFill>
              <a:latin typeface="Prompt" panose="00000500000000000000" pitchFamily="2" charset="-34"/>
              <a:cs typeface="Prompt" panose="00000500000000000000" pitchFamily="2" charset="-34"/>
            </a:endParaRPr>
          </a:p>
          <a:p>
            <a:pPr marL="457200" indent="-457200">
              <a:lnSpc>
                <a:spcPct val="160000"/>
              </a:lnSpc>
              <a:buFont typeface="+mj-lt"/>
              <a:buAutoNum type="arabicPeriod"/>
            </a:pPr>
            <a:r>
              <a:rPr lang="en-GB" sz="2000" dirty="0">
                <a:solidFill>
                  <a:schemeClr val="accent5">
                    <a:lumMod val="20000"/>
                    <a:lumOff val="80000"/>
                  </a:schemeClr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Transform Data</a:t>
            </a:r>
            <a:endParaRPr lang="th-TH" sz="2000" dirty="0">
              <a:solidFill>
                <a:schemeClr val="accent5">
                  <a:lumMod val="20000"/>
                  <a:lumOff val="80000"/>
                </a:schemeClr>
              </a:solidFill>
              <a:latin typeface="Prompt" panose="00000500000000000000" pitchFamily="2" charset="-34"/>
              <a:cs typeface="Prompt" panose="00000500000000000000" pitchFamily="2" charset="-34"/>
            </a:endParaRPr>
          </a:p>
          <a:p>
            <a:pPr marL="457200" indent="-457200">
              <a:lnSpc>
                <a:spcPct val="160000"/>
              </a:lnSpc>
              <a:buFont typeface="+mj-lt"/>
              <a:buAutoNum type="arabicPeriod"/>
            </a:pPr>
            <a:r>
              <a:rPr lang="en-GB" sz="2000" dirty="0">
                <a:solidFill>
                  <a:schemeClr val="accent5">
                    <a:lumMod val="20000"/>
                    <a:lumOff val="80000"/>
                  </a:schemeClr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Data Model</a:t>
            </a:r>
            <a:endParaRPr lang="th-TH" sz="2000" dirty="0">
              <a:solidFill>
                <a:schemeClr val="accent5">
                  <a:lumMod val="20000"/>
                  <a:lumOff val="80000"/>
                </a:schemeClr>
              </a:solidFill>
              <a:latin typeface="Prompt" panose="00000500000000000000" pitchFamily="2" charset="-34"/>
              <a:cs typeface="Prompt" panose="00000500000000000000" pitchFamily="2" charset="-34"/>
            </a:endParaRPr>
          </a:p>
          <a:p>
            <a:pPr marL="457200" indent="-457200">
              <a:lnSpc>
                <a:spcPct val="160000"/>
              </a:lnSpc>
              <a:buFont typeface="+mj-lt"/>
              <a:buAutoNum type="arabicPeriod"/>
            </a:pPr>
            <a:r>
              <a:rPr lang="en-GB" sz="2000" dirty="0">
                <a:solidFill>
                  <a:schemeClr val="accent5">
                    <a:lumMod val="20000"/>
                    <a:lumOff val="80000"/>
                  </a:schemeClr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Visualization</a:t>
            </a:r>
            <a:endParaRPr lang="th-TH" sz="2000" dirty="0">
              <a:solidFill>
                <a:schemeClr val="accent5">
                  <a:lumMod val="20000"/>
                  <a:lumOff val="80000"/>
                </a:schemeClr>
              </a:solidFill>
              <a:latin typeface="Prompt" panose="00000500000000000000" pitchFamily="2" charset="-34"/>
              <a:cs typeface="Prompt" panose="00000500000000000000" pitchFamily="2" charset="-34"/>
            </a:endParaRPr>
          </a:p>
          <a:p>
            <a:pPr marL="457200" indent="-457200">
              <a:lnSpc>
                <a:spcPct val="160000"/>
              </a:lnSpc>
              <a:buFont typeface="+mj-lt"/>
              <a:buAutoNum type="arabicPeriod"/>
            </a:pPr>
            <a:r>
              <a:rPr lang="en-GB" sz="2000" dirty="0">
                <a:solidFill>
                  <a:schemeClr val="accent5">
                    <a:lumMod val="20000"/>
                    <a:lumOff val="80000"/>
                  </a:schemeClr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Share</a:t>
            </a:r>
            <a:endParaRPr lang="th-TH" sz="2000" dirty="0">
              <a:solidFill>
                <a:schemeClr val="accent5">
                  <a:lumMod val="20000"/>
                  <a:lumOff val="80000"/>
                </a:schemeClr>
              </a:solidFill>
              <a:latin typeface="Prompt" panose="00000500000000000000" pitchFamily="2" charset="-34"/>
              <a:cs typeface="Prompt" panose="00000500000000000000" pitchFamily="2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35956515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E9B202-0FAA-DA1B-E63F-94A2E5CBAD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BE221C-8EAC-5E2D-5816-2157B537C2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th-TH" b="1" dirty="0">
                <a:solidFill>
                  <a:srgbClr val="ECBC14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การเชื่อมต่อข้อมูล (</a:t>
            </a:r>
            <a:r>
              <a:rPr lang="en-GB" b="1" dirty="0">
                <a:solidFill>
                  <a:srgbClr val="ECBC14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Connect Data)</a:t>
            </a:r>
            <a:endParaRPr lang="th-TH" b="1" dirty="0">
              <a:solidFill>
                <a:srgbClr val="ECBC14"/>
              </a:solidFill>
              <a:latin typeface="Prompt" panose="00000500000000000000" pitchFamily="2" charset="-34"/>
              <a:cs typeface="Prompt" panose="00000500000000000000" pitchFamily="2" charset="-3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1C702A-A205-72D4-92BB-1585B9903A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800" y="1471083"/>
            <a:ext cx="6688667" cy="2338917"/>
          </a:xfrm>
        </p:spPr>
        <p:txBody>
          <a:bodyPr>
            <a:noAutofit/>
          </a:bodyPr>
          <a:lstStyle/>
          <a:p>
            <a:pPr marL="457200" indent="-457200">
              <a:lnSpc>
                <a:spcPct val="160000"/>
              </a:lnSpc>
              <a:buFont typeface="+mj-lt"/>
              <a:buAutoNum type="arabicPeriod"/>
            </a:pPr>
            <a:r>
              <a:rPr lang="en-GB" sz="2000" dirty="0">
                <a:solidFill>
                  <a:schemeClr val="accent5">
                    <a:lumMod val="20000"/>
                    <a:lumOff val="80000"/>
                  </a:schemeClr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Excel / CSV</a:t>
            </a:r>
            <a:endParaRPr lang="th-TH" sz="2000" dirty="0">
              <a:solidFill>
                <a:schemeClr val="accent5">
                  <a:lumMod val="20000"/>
                  <a:lumOff val="80000"/>
                </a:schemeClr>
              </a:solidFill>
              <a:latin typeface="Prompt" panose="00000500000000000000" pitchFamily="2" charset="-34"/>
              <a:cs typeface="Prompt" panose="00000500000000000000" pitchFamily="2" charset="-34"/>
            </a:endParaRPr>
          </a:p>
          <a:p>
            <a:pPr marL="457200" indent="-457200">
              <a:lnSpc>
                <a:spcPct val="160000"/>
              </a:lnSpc>
              <a:buFont typeface="+mj-lt"/>
              <a:buAutoNum type="arabicPeriod"/>
            </a:pPr>
            <a:r>
              <a:rPr lang="th-TH" sz="2000" dirty="0">
                <a:solidFill>
                  <a:schemeClr val="accent5">
                    <a:lumMod val="20000"/>
                    <a:lumOff val="80000"/>
                  </a:schemeClr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ฐานข้อมูล (</a:t>
            </a:r>
            <a:r>
              <a:rPr lang="en-GB" sz="2000" dirty="0">
                <a:solidFill>
                  <a:schemeClr val="accent5">
                    <a:lumMod val="20000"/>
                    <a:lumOff val="80000"/>
                  </a:schemeClr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SQL Server)</a:t>
            </a:r>
            <a:endParaRPr lang="th-TH" sz="2000" dirty="0">
              <a:solidFill>
                <a:schemeClr val="accent5">
                  <a:lumMod val="20000"/>
                  <a:lumOff val="80000"/>
                </a:schemeClr>
              </a:solidFill>
              <a:latin typeface="Prompt" panose="00000500000000000000" pitchFamily="2" charset="-34"/>
              <a:cs typeface="Prompt" panose="00000500000000000000" pitchFamily="2" charset="-34"/>
            </a:endParaRPr>
          </a:p>
          <a:p>
            <a:pPr marL="457200" indent="-457200">
              <a:lnSpc>
                <a:spcPct val="160000"/>
              </a:lnSpc>
              <a:buFont typeface="+mj-lt"/>
              <a:buAutoNum type="arabicPeriod"/>
            </a:pPr>
            <a:r>
              <a:rPr lang="en-GB" sz="2000" dirty="0">
                <a:solidFill>
                  <a:schemeClr val="accent5">
                    <a:lumMod val="20000"/>
                    <a:lumOff val="80000"/>
                  </a:schemeClr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SharePoint / OneDrive</a:t>
            </a:r>
            <a:endParaRPr lang="th-TH" sz="2000" dirty="0">
              <a:solidFill>
                <a:schemeClr val="accent5">
                  <a:lumMod val="20000"/>
                  <a:lumOff val="80000"/>
                </a:schemeClr>
              </a:solidFill>
              <a:latin typeface="Prompt" panose="00000500000000000000" pitchFamily="2" charset="-34"/>
              <a:cs typeface="Prompt" panose="00000500000000000000" pitchFamily="2" charset="-34"/>
            </a:endParaRPr>
          </a:p>
          <a:p>
            <a:pPr marL="457200" indent="-457200">
              <a:lnSpc>
                <a:spcPct val="160000"/>
              </a:lnSpc>
              <a:buFont typeface="+mj-lt"/>
              <a:buAutoNum type="arabicPeriod"/>
            </a:pPr>
            <a:r>
              <a:rPr lang="en-GB" sz="2000" dirty="0">
                <a:solidFill>
                  <a:schemeClr val="accent5">
                    <a:lumMod val="20000"/>
                    <a:lumOff val="80000"/>
                  </a:schemeClr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Web</a:t>
            </a:r>
            <a:endParaRPr lang="th-TH" sz="2000" dirty="0">
              <a:solidFill>
                <a:schemeClr val="accent5">
                  <a:lumMod val="20000"/>
                  <a:lumOff val="80000"/>
                </a:schemeClr>
              </a:solidFill>
              <a:latin typeface="Prompt" panose="00000500000000000000" pitchFamily="2" charset="-34"/>
              <a:cs typeface="Prompt" panose="00000500000000000000" pitchFamily="2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9559924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1048E6-9E95-1264-21AB-9AE8684F07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35D02B-8062-EFC8-DA72-F55164DD04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GB" b="1" dirty="0">
                <a:solidFill>
                  <a:srgbClr val="ECBC14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Power Query </a:t>
            </a:r>
            <a:r>
              <a:rPr lang="th-TH" b="1" dirty="0">
                <a:solidFill>
                  <a:srgbClr val="ECBC14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คืออะไร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624CB6-E1F9-AB4B-F4DB-8832ED7424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800" y="1471083"/>
            <a:ext cx="6688667" cy="2338917"/>
          </a:xfrm>
        </p:spPr>
        <p:txBody>
          <a:bodyPr>
            <a:noAutofit/>
          </a:bodyPr>
          <a:lstStyle/>
          <a:p>
            <a:pPr marL="457200" indent="-457200">
              <a:lnSpc>
                <a:spcPct val="160000"/>
              </a:lnSpc>
              <a:buFont typeface="+mj-lt"/>
              <a:buAutoNum type="arabicPeriod"/>
            </a:pPr>
            <a:r>
              <a:rPr lang="th-TH" sz="2000" dirty="0">
                <a:solidFill>
                  <a:schemeClr val="accent5">
                    <a:lumMod val="20000"/>
                    <a:lumOff val="80000"/>
                  </a:schemeClr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เครื่องมือเตรียมและทำความสะอาดข้อมูล</a:t>
            </a:r>
          </a:p>
          <a:p>
            <a:pPr marL="457200" indent="-457200">
              <a:lnSpc>
                <a:spcPct val="160000"/>
              </a:lnSpc>
              <a:buFont typeface="+mj-lt"/>
              <a:buAutoNum type="arabicPeriod"/>
            </a:pPr>
            <a:r>
              <a:rPr lang="th-TH" sz="2000" dirty="0">
                <a:solidFill>
                  <a:schemeClr val="accent5">
                    <a:lumMod val="20000"/>
                    <a:lumOff val="80000"/>
                  </a:schemeClr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ทำงานแบบไม่ต้องเขียนโค้ด</a:t>
            </a:r>
          </a:p>
          <a:p>
            <a:pPr marL="457200" indent="-457200">
              <a:lnSpc>
                <a:spcPct val="160000"/>
              </a:lnSpc>
              <a:buFont typeface="+mj-lt"/>
              <a:buAutoNum type="arabicPeriod"/>
            </a:pPr>
            <a:r>
              <a:rPr lang="th-TH" sz="2000" dirty="0">
                <a:solidFill>
                  <a:schemeClr val="accent5">
                    <a:lumMod val="20000"/>
                    <a:lumOff val="80000"/>
                  </a:schemeClr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ใช้ซ้ำได้ทุกครั้งที่ </a:t>
            </a:r>
            <a:r>
              <a:rPr lang="en-GB" sz="2000" dirty="0">
                <a:solidFill>
                  <a:schemeClr val="accent5">
                    <a:lumMod val="20000"/>
                    <a:lumOff val="80000"/>
                  </a:schemeClr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Refresh </a:t>
            </a:r>
            <a:r>
              <a:rPr lang="th-TH" sz="2000" dirty="0">
                <a:solidFill>
                  <a:schemeClr val="accent5">
                    <a:lumMod val="20000"/>
                    <a:lumOff val="80000"/>
                  </a:schemeClr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ข้อมูล</a:t>
            </a:r>
          </a:p>
        </p:txBody>
      </p:sp>
    </p:spTree>
    <p:extLst>
      <p:ext uri="{BB962C8B-B14F-4D97-AF65-F5344CB8AC3E}">
        <p14:creationId xmlns:p14="http://schemas.microsoft.com/office/powerpoint/2010/main" val="10497623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3969B3-B78F-AE74-C8F1-D263AA00CA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03E31D-9CF9-A065-0F05-1E143E5964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th-TH" b="1" dirty="0">
                <a:solidFill>
                  <a:srgbClr val="ECBC14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ตัวอย่างการทำความสะอาดข้อมูล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347DAA-B280-C6EE-B818-9D1F6B4502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800" y="1471083"/>
            <a:ext cx="6688667" cy="2338917"/>
          </a:xfrm>
        </p:spPr>
        <p:txBody>
          <a:bodyPr>
            <a:noAutofit/>
          </a:bodyPr>
          <a:lstStyle/>
          <a:p>
            <a:pPr marL="457200" indent="-457200">
              <a:lnSpc>
                <a:spcPct val="160000"/>
              </a:lnSpc>
              <a:buFont typeface="+mj-lt"/>
              <a:buAutoNum type="arabicPeriod"/>
            </a:pPr>
            <a:r>
              <a:rPr lang="th-TH" sz="2000" dirty="0">
                <a:solidFill>
                  <a:schemeClr val="accent5">
                    <a:lumMod val="20000"/>
                    <a:lumOff val="80000"/>
                  </a:schemeClr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ลบคอลัมน์ที่ไม่จำเป็น</a:t>
            </a:r>
          </a:p>
          <a:p>
            <a:pPr marL="457200" indent="-457200">
              <a:lnSpc>
                <a:spcPct val="160000"/>
              </a:lnSpc>
              <a:buFont typeface="+mj-lt"/>
              <a:buAutoNum type="arabicPeriod"/>
            </a:pPr>
            <a:r>
              <a:rPr lang="th-TH" sz="2000" dirty="0">
                <a:solidFill>
                  <a:schemeClr val="accent5">
                    <a:lumMod val="20000"/>
                    <a:lumOff val="80000"/>
                  </a:schemeClr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เปลี่ยนรูปแบบวันที่</a:t>
            </a:r>
          </a:p>
          <a:p>
            <a:pPr marL="457200" indent="-457200">
              <a:lnSpc>
                <a:spcPct val="160000"/>
              </a:lnSpc>
              <a:buFont typeface="+mj-lt"/>
              <a:buAutoNum type="arabicPeriod"/>
            </a:pPr>
            <a:r>
              <a:rPr lang="th-TH" sz="2000" dirty="0">
                <a:solidFill>
                  <a:schemeClr val="accent5">
                    <a:lumMod val="20000"/>
                    <a:lumOff val="80000"/>
                  </a:schemeClr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แทนค่าข้อมูลว่าง</a:t>
            </a:r>
          </a:p>
          <a:p>
            <a:pPr marL="457200" indent="-457200">
              <a:lnSpc>
                <a:spcPct val="160000"/>
              </a:lnSpc>
              <a:buFont typeface="+mj-lt"/>
              <a:buAutoNum type="arabicPeriod"/>
            </a:pPr>
            <a:r>
              <a:rPr lang="th-TH" sz="2000" dirty="0">
                <a:solidFill>
                  <a:schemeClr val="accent5">
                    <a:lumMod val="20000"/>
                    <a:lumOff val="80000"/>
                  </a:schemeClr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รวม / แยกคอลัมน์</a:t>
            </a:r>
          </a:p>
        </p:txBody>
      </p:sp>
    </p:spTree>
    <p:extLst>
      <p:ext uri="{BB962C8B-B14F-4D97-AF65-F5344CB8AC3E}">
        <p14:creationId xmlns:p14="http://schemas.microsoft.com/office/powerpoint/2010/main" val="5846883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59574C-5712-BEC9-3755-A0236886D3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A16D3F-A9DC-110A-D346-7FD4C3C9A8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GB" b="1" dirty="0">
                <a:solidFill>
                  <a:srgbClr val="ECBC14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Data Model</a:t>
            </a:r>
            <a:endParaRPr lang="th-TH" b="1" dirty="0">
              <a:solidFill>
                <a:srgbClr val="ECBC14"/>
              </a:solidFill>
              <a:latin typeface="Prompt" panose="00000500000000000000" pitchFamily="2" charset="-34"/>
              <a:cs typeface="Prompt" panose="00000500000000000000" pitchFamily="2" charset="-3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FEEF2C-34AE-F08B-923D-18F1EB2A3B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800" y="1471083"/>
            <a:ext cx="6688667" cy="2338917"/>
          </a:xfrm>
        </p:spPr>
        <p:txBody>
          <a:bodyPr>
            <a:noAutofit/>
          </a:bodyPr>
          <a:lstStyle/>
          <a:p>
            <a:pPr marL="457200" indent="-457200">
              <a:lnSpc>
                <a:spcPct val="160000"/>
              </a:lnSpc>
              <a:buFont typeface="+mj-lt"/>
              <a:buAutoNum type="arabicPeriod"/>
            </a:pPr>
            <a:r>
              <a:rPr lang="th-TH" sz="2000" dirty="0">
                <a:solidFill>
                  <a:schemeClr val="accent5">
                    <a:lumMod val="20000"/>
                    <a:lumOff val="80000"/>
                  </a:schemeClr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เชื่อมความสัมพันธ์ระหว่างตาราง</a:t>
            </a:r>
          </a:p>
          <a:p>
            <a:pPr marL="457200" indent="-457200">
              <a:lnSpc>
                <a:spcPct val="160000"/>
              </a:lnSpc>
              <a:buFont typeface="+mj-lt"/>
              <a:buAutoNum type="arabicPeriod"/>
            </a:pPr>
            <a:r>
              <a:rPr lang="th-TH" sz="2000" dirty="0">
                <a:solidFill>
                  <a:schemeClr val="accent5">
                    <a:lumMod val="20000"/>
                    <a:lumOff val="80000"/>
                  </a:schemeClr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แยก </a:t>
            </a:r>
            <a:r>
              <a:rPr lang="en-GB" sz="2000" dirty="0">
                <a:solidFill>
                  <a:schemeClr val="accent5">
                    <a:lumMod val="20000"/>
                    <a:lumOff val="80000"/>
                  </a:schemeClr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Fact </a:t>
            </a:r>
            <a:r>
              <a:rPr lang="th-TH" sz="2000" dirty="0">
                <a:solidFill>
                  <a:schemeClr val="accent5">
                    <a:lumMod val="20000"/>
                    <a:lumOff val="80000"/>
                  </a:schemeClr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และ </a:t>
            </a:r>
            <a:r>
              <a:rPr lang="en-GB" sz="2000" dirty="0">
                <a:solidFill>
                  <a:schemeClr val="accent5">
                    <a:lumMod val="20000"/>
                    <a:lumOff val="80000"/>
                  </a:schemeClr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Dimension</a:t>
            </a:r>
            <a:endParaRPr lang="th-TH" sz="2000" dirty="0">
              <a:solidFill>
                <a:schemeClr val="accent5">
                  <a:lumMod val="20000"/>
                  <a:lumOff val="80000"/>
                </a:schemeClr>
              </a:solidFill>
              <a:latin typeface="Prompt" panose="00000500000000000000" pitchFamily="2" charset="-34"/>
              <a:cs typeface="Prompt" panose="00000500000000000000" pitchFamily="2" charset="-34"/>
            </a:endParaRPr>
          </a:p>
          <a:p>
            <a:pPr marL="457200" indent="-457200">
              <a:lnSpc>
                <a:spcPct val="160000"/>
              </a:lnSpc>
              <a:buFont typeface="+mj-lt"/>
              <a:buAutoNum type="arabicPeriod"/>
            </a:pPr>
            <a:r>
              <a:rPr lang="th-TH" sz="2000" dirty="0">
                <a:solidFill>
                  <a:schemeClr val="accent5">
                    <a:lumMod val="20000"/>
                    <a:lumOff val="80000"/>
                  </a:schemeClr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รองรับโครงสร้าง </a:t>
            </a:r>
            <a:r>
              <a:rPr lang="en-GB" sz="2000" dirty="0">
                <a:solidFill>
                  <a:schemeClr val="accent5">
                    <a:lumMod val="20000"/>
                    <a:lumOff val="80000"/>
                  </a:schemeClr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Star Schema</a:t>
            </a:r>
            <a:endParaRPr lang="th-TH" sz="2000" dirty="0">
              <a:solidFill>
                <a:schemeClr val="accent5">
                  <a:lumMod val="20000"/>
                  <a:lumOff val="80000"/>
                </a:schemeClr>
              </a:solidFill>
              <a:latin typeface="Prompt" panose="00000500000000000000" pitchFamily="2" charset="-34"/>
              <a:cs typeface="Prompt" panose="00000500000000000000" pitchFamily="2" charset="-34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AA6B26F-ADC3-CD92-87BD-9D6DE9F094D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834" t="19845" r="40333" b="7153"/>
          <a:stretch>
            <a:fillRect/>
          </a:stretch>
        </p:blipFill>
        <p:spPr>
          <a:xfrm>
            <a:off x="5080000" y="1290906"/>
            <a:ext cx="4784163" cy="35530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2406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B38696-0FC7-2D75-4619-C7DAB06966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A58A370B-9E07-F6F1-CF40-7828ABBA6A5B}"/>
              </a:ext>
            </a:extLst>
          </p:cNvPr>
          <p:cNvSpPr/>
          <p:nvPr/>
        </p:nvSpPr>
        <p:spPr>
          <a:xfrm>
            <a:off x="406400" y="1117600"/>
            <a:ext cx="5216081" cy="1657436"/>
          </a:xfrm>
          <a:prstGeom prst="roundRect">
            <a:avLst>
              <a:gd name="adj" fmla="val 5063"/>
            </a:avLst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th-TH" sz="1600" dirty="0">
                <a:solidFill>
                  <a:schemeClr val="accent5">
                    <a:lumMod val="20000"/>
                    <a:lumOff val="80000"/>
                  </a:schemeClr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ภาษาสำหรับคำนวณใน </a:t>
            </a:r>
            <a:r>
              <a:rPr lang="en-GB" sz="1600" dirty="0">
                <a:solidFill>
                  <a:schemeClr val="accent5">
                    <a:lumMod val="20000"/>
                    <a:lumOff val="80000"/>
                  </a:schemeClr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Power BI</a:t>
            </a:r>
            <a:r>
              <a:rPr lang="th-TH" sz="1600" dirty="0">
                <a:solidFill>
                  <a:schemeClr val="accent5">
                    <a:lumMod val="20000"/>
                    <a:lumOff val="80000"/>
                  </a:schemeClr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th-TH" sz="1600" dirty="0">
                <a:solidFill>
                  <a:schemeClr val="accent5">
                    <a:lumMod val="20000"/>
                    <a:lumOff val="80000"/>
                  </a:schemeClr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วิเคราะห์ข้อมูลเชิงเวลา (</a:t>
            </a:r>
            <a:r>
              <a:rPr lang="en-GB" sz="1600" dirty="0">
                <a:solidFill>
                  <a:schemeClr val="accent5">
                    <a:lumMod val="20000"/>
                    <a:lumOff val="80000"/>
                  </a:schemeClr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YTD, MTD, YoY)</a:t>
            </a:r>
            <a:endParaRPr lang="th-TH" sz="1600" dirty="0">
              <a:solidFill>
                <a:schemeClr val="accent5">
                  <a:lumMod val="20000"/>
                  <a:lumOff val="80000"/>
                </a:schemeClr>
              </a:solidFill>
              <a:latin typeface="Prompt" panose="00000500000000000000" pitchFamily="2" charset="-34"/>
              <a:cs typeface="Prompt" panose="00000500000000000000" pitchFamily="2" charset="-34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th-TH" sz="1600" dirty="0">
                <a:solidFill>
                  <a:schemeClr val="accent5">
                    <a:lumMod val="20000"/>
                    <a:lumOff val="80000"/>
                  </a:schemeClr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ควบคุมบริบทการคำนวณ (</a:t>
            </a:r>
            <a:r>
              <a:rPr lang="en-GB" sz="1600" dirty="0">
                <a:solidFill>
                  <a:schemeClr val="accent5">
                    <a:lumMod val="20000"/>
                    <a:lumOff val="80000"/>
                  </a:schemeClr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Filter / Row Context)</a:t>
            </a:r>
            <a:endParaRPr lang="th-TH" sz="1600" dirty="0">
              <a:solidFill>
                <a:schemeClr val="accent5">
                  <a:lumMod val="20000"/>
                  <a:lumOff val="80000"/>
                </a:schemeClr>
              </a:solidFill>
              <a:latin typeface="Prompt" panose="00000500000000000000" pitchFamily="2" charset="-34"/>
              <a:cs typeface="Prompt" panose="00000500000000000000" pitchFamily="2" charset="-34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th-TH" sz="1600" dirty="0">
                <a:solidFill>
                  <a:schemeClr val="accent5">
                    <a:lumMod val="20000"/>
                    <a:lumOff val="80000"/>
                  </a:schemeClr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ใช้สร้าง </a:t>
            </a:r>
            <a:r>
              <a:rPr lang="en-GB" sz="1600" dirty="0">
                <a:solidFill>
                  <a:schemeClr val="accent5">
                    <a:lumMod val="20000"/>
                    <a:lumOff val="80000"/>
                  </a:schemeClr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Measure</a:t>
            </a:r>
            <a:endParaRPr lang="th-TH" sz="1600" dirty="0">
              <a:solidFill>
                <a:schemeClr val="accent5">
                  <a:lumMod val="20000"/>
                  <a:lumOff val="80000"/>
                </a:schemeClr>
              </a:solidFill>
              <a:latin typeface="Prompt" panose="00000500000000000000" pitchFamily="2" charset="-34"/>
              <a:cs typeface="Prompt" panose="00000500000000000000" pitchFamily="2" charset="-34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F0C4BB5-A43E-B736-A3D7-7E3313F92E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6852" y="3083898"/>
            <a:ext cx="8104948" cy="2231425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A737FBBF-FF76-D371-4A8A-155D4457B8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0" y="228865"/>
            <a:ext cx="9753600" cy="952500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pPr algn="l"/>
            <a:r>
              <a:rPr lang="th-TH" b="1" dirty="0">
                <a:solidFill>
                  <a:srgbClr val="ECBC14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การวิเคราะห์ด้วย </a:t>
            </a:r>
            <a:r>
              <a:rPr lang="en-GB" b="1" dirty="0">
                <a:solidFill>
                  <a:srgbClr val="ECBC14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DAX (Data Analysis Expressions)</a:t>
            </a:r>
            <a:endParaRPr lang="th-TH" b="1" dirty="0">
              <a:solidFill>
                <a:srgbClr val="ECBC14"/>
              </a:solidFill>
              <a:latin typeface="Prompt" panose="00000500000000000000" pitchFamily="2" charset="-34"/>
              <a:cs typeface="Prompt" panose="00000500000000000000" pitchFamily="2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24375976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1A717F-7433-3070-203C-DA0DA64F20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2707AC70-3EE0-7CDC-48D1-2285AB7EE646}"/>
              </a:ext>
            </a:extLst>
          </p:cNvPr>
          <p:cNvSpPr txBox="1">
            <a:spLocks/>
          </p:cNvSpPr>
          <p:nvPr/>
        </p:nvSpPr>
        <p:spPr>
          <a:xfrm>
            <a:off x="329585" y="228682"/>
            <a:ext cx="6181282" cy="88891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8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5</a:t>
            </a:r>
            <a:r>
              <a:rPr lang="th-TH" sz="28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. การสร้างรายงาน (</a:t>
            </a:r>
            <a:r>
              <a:rPr lang="en-GB" sz="28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Visualization)</a:t>
            </a:r>
            <a:endParaRPr lang="th-TH" sz="2800" b="1" dirty="0">
              <a:solidFill>
                <a:schemeClr val="accent5">
                  <a:lumMod val="20000"/>
                  <a:lumOff val="80000"/>
                </a:schemeClr>
              </a:solidFill>
              <a:latin typeface="Prompt" panose="00000500000000000000" pitchFamily="2" charset="-34"/>
              <a:cs typeface="Prompt" panose="00000500000000000000" pitchFamily="2" charset="-34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9E023F9-3213-9510-26A3-641A284C4D31}"/>
              </a:ext>
            </a:extLst>
          </p:cNvPr>
          <p:cNvSpPr txBox="1"/>
          <p:nvPr/>
        </p:nvSpPr>
        <p:spPr>
          <a:xfrm>
            <a:off x="584199" y="1339789"/>
            <a:ext cx="5562601" cy="3381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th-TH" sz="1800" dirty="0">
                <a:solidFill>
                  <a:schemeClr val="accent5">
                    <a:lumMod val="20000"/>
                    <a:lumOff val="80000"/>
                  </a:schemeClr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คือการนำเข้าข้อมูลและสูตรคำนวณที่เรียบร้อยแล้วมาจัดทำหน้าตาการรายงานด้วยวิธีการง่ายๆ: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th-TH" sz="1800" dirty="0">
                <a:solidFill>
                  <a:schemeClr val="accent5">
                    <a:lumMod val="20000"/>
                    <a:lumOff val="80000"/>
                  </a:schemeClr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ลากและวาง (</a:t>
            </a:r>
            <a:r>
              <a:rPr lang="en-GB" sz="1800" dirty="0">
                <a:solidFill>
                  <a:schemeClr val="accent5">
                    <a:lumMod val="20000"/>
                    <a:lumOff val="80000"/>
                  </a:schemeClr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Drag &amp; Drop): </a:t>
            </a:r>
            <a:r>
              <a:rPr lang="th-TH" sz="1800" dirty="0">
                <a:solidFill>
                  <a:schemeClr val="accent5">
                    <a:lumMod val="20000"/>
                    <a:lumOff val="80000"/>
                  </a:schemeClr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ลากข้อมูลใส่ </a:t>
            </a:r>
            <a:r>
              <a:rPr lang="en-GB" sz="1800" dirty="0">
                <a:solidFill>
                  <a:schemeClr val="accent5">
                    <a:lumMod val="20000"/>
                    <a:lumOff val="80000"/>
                  </a:schemeClr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Visuals </a:t>
            </a:r>
            <a:r>
              <a:rPr lang="th-TH" sz="1800" dirty="0">
                <a:solidFill>
                  <a:schemeClr val="accent5">
                    <a:lumMod val="20000"/>
                    <a:lumOff val="80000"/>
                  </a:schemeClr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ได้เลย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th-TH" sz="1800" dirty="0">
                <a:solidFill>
                  <a:schemeClr val="accent5">
                    <a:lumMod val="20000"/>
                    <a:lumOff val="80000"/>
                  </a:schemeClr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เครื่องมือหลากหลาย: เลือกใช้กราฟแท่ง กราฟเส้น วงกลม หรือแผนที่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th-TH" sz="1800" dirty="0">
                <a:solidFill>
                  <a:schemeClr val="accent5">
                    <a:lumMod val="20000"/>
                    <a:lumOff val="80000"/>
                  </a:schemeClr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จัดหน้าอย่างเป็นหมวดหมู่: ปรับโทนสีและขนาดตัวอักษรเพื่อเน้นย้ำจุดที่สำคัญที่สุด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FA360A6-7E5B-139E-2800-8FFE65BCA9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1813" y="1596959"/>
            <a:ext cx="3851389" cy="26871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26098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472129-25B0-7E3F-D6CD-2B9CA718F6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69AB2DCB-B08E-F32F-E16C-E601837EB914}"/>
              </a:ext>
            </a:extLst>
          </p:cNvPr>
          <p:cNvSpPr/>
          <p:nvPr/>
        </p:nvSpPr>
        <p:spPr>
          <a:xfrm>
            <a:off x="642357" y="1335878"/>
            <a:ext cx="4437643" cy="3600000"/>
          </a:xfrm>
          <a:prstGeom prst="roundRect">
            <a:avLst>
              <a:gd name="adj" fmla="val 5063"/>
            </a:avLst>
          </a:prstGeom>
          <a:solidFill>
            <a:schemeClr val="tx2">
              <a:lumMod val="5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 sz="1100" dirty="0">
              <a:solidFill>
                <a:schemeClr val="tx2">
                  <a:lumMod val="60000"/>
                  <a:lumOff val="40000"/>
                </a:schemeClr>
              </a:solidFill>
              <a:latin typeface="Prompt" panose="00000500000000000000" pitchFamily="2" charset="-34"/>
              <a:cs typeface="Prompt" panose="00000500000000000000" pitchFamily="2" charset="-34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E4658E23-F920-F18D-A51A-1A817779CF0C}"/>
              </a:ext>
            </a:extLst>
          </p:cNvPr>
          <p:cNvSpPr txBox="1">
            <a:spLocks/>
          </p:cNvSpPr>
          <p:nvPr/>
        </p:nvSpPr>
        <p:spPr>
          <a:xfrm>
            <a:off x="329585" y="228682"/>
            <a:ext cx="6181282" cy="88891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8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6. Dashboard &amp; Report</a:t>
            </a:r>
            <a:endParaRPr lang="th-TH" sz="2800" b="1" dirty="0">
              <a:solidFill>
                <a:schemeClr val="accent5">
                  <a:lumMod val="20000"/>
                  <a:lumOff val="80000"/>
                </a:schemeClr>
              </a:solidFill>
              <a:latin typeface="Prompt" panose="00000500000000000000" pitchFamily="2" charset="-34"/>
              <a:cs typeface="Prompt" panose="00000500000000000000" pitchFamily="2" charset="-34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6BE35C6-7E70-64E1-2B80-6AC98F868CFB}"/>
              </a:ext>
            </a:extLst>
          </p:cNvPr>
          <p:cNvSpPr txBox="1"/>
          <p:nvPr/>
        </p:nvSpPr>
        <p:spPr>
          <a:xfrm>
            <a:off x="1084897" y="1414639"/>
            <a:ext cx="2504969" cy="14427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4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Report</a:t>
            </a:r>
            <a:endParaRPr lang="th-TH" sz="2400" b="1" dirty="0">
              <a:solidFill>
                <a:schemeClr val="accent5">
                  <a:lumMod val="20000"/>
                  <a:lumOff val="80000"/>
                </a:schemeClr>
              </a:solidFill>
              <a:latin typeface="Prompt" panose="00000500000000000000" pitchFamily="2" charset="-34"/>
              <a:cs typeface="Prompt" panose="00000500000000000000" pitchFamily="2" charset="-34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th-TH" sz="1800" dirty="0">
                <a:solidFill>
                  <a:schemeClr val="accent5">
                    <a:lumMod val="20000"/>
                    <a:lumOff val="80000"/>
                  </a:schemeClr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หลายหน้า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th-TH" sz="1800" dirty="0">
                <a:solidFill>
                  <a:schemeClr val="accent5">
                    <a:lumMod val="20000"/>
                    <a:lumOff val="80000"/>
                  </a:schemeClr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วิเคราะห์เชิงลึก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0D1CF3A-1E14-5AFF-4AF2-34B157D09BDE}"/>
              </a:ext>
            </a:extLst>
          </p:cNvPr>
          <p:cNvSpPr txBox="1"/>
          <p:nvPr/>
        </p:nvSpPr>
        <p:spPr>
          <a:xfrm>
            <a:off x="1084896" y="2936103"/>
            <a:ext cx="2504969" cy="14427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4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Dashboard</a:t>
            </a:r>
            <a:endParaRPr lang="th-TH" sz="2400" b="1" dirty="0">
              <a:solidFill>
                <a:schemeClr val="accent5">
                  <a:lumMod val="20000"/>
                  <a:lumOff val="80000"/>
                </a:schemeClr>
              </a:solidFill>
              <a:latin typeface="Prompt" panose="00000500000000000000" pitchFamily="2" charset="-34"/>
              <a:cs typeface="Prompt" panose="00000500000000000000" pitchFamily="2" charset="-34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th-TH" sz="1800" dirty="0">
                <a:solidFill>
                  <a:schemeClr val="accent5">
                    <a:lumMod val="20000"/>
                    <a:lumOff val="80000"/>
                  </a:schemeClr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หน้าเดียว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th-TH" sz="1800" dirty="0">
                <a:solidFill>
                  <a:schemeClr val="accent5">
                    <a:lumMod val="20000"/>
                    <a:lumOff val="80000"/>
                  </a:schemeClr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ภาพรวมผู้บริหาร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8E1B5149-0D0A-5E97-75DD-B40D249730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5598" y="1682803"/>
            <a:ext cx="5490958" cy="3088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39517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53F9B1-4E9E-7773-7042-10194C6BF6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F87A3B62-A7A5-CEB7-DA72-26FBEAF0F1DB}"/>
              </a:ext>
            </a:extLst>
          </p:cNvPr>
          <p:cNvSpPr txBox="1">
            <a:spLocks/>
          </p:cNvSpPr>
          <p:nvPr/>
        </p:nvSpPr>
        <p:spPr>
          <a:xfrm>
            <a:off x="329585" y="228682"/>
            <a:ext cx="9593348" cy="88891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8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7. </a:t>
            </a:r>
            <a:r>
              <a:rPr lang="th-TH" sz="28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การแชร์และทำงานร่วมกัน (</a:t>
            </a:r>
            <a:r>
              <a:rPr lang="en-US" sz="28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Sharing &amp; Collaboration)</a:t>
            </a:r>
            <a:endParaRPr lang="th-TH" sz="2800" b="1" dirty="0">
              <a:solidFill>
                <a:schemeClr val="accent5">
                  <a:lumMod val="20000"/>
                  <a:lumOff val="80000"/>
                </a:schemeClr>
              </a:solidFill>
              <a:latin typeface="Prompt" panose="00000500000000000000" pitchFamily="2" charset="-34"/>
              <a:cs typeface="Prompt" panose="00000500000000000000" pitchFamily="2" charset="-34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2CB681B-A894-3A9F-340A-BD83001E970B}"/>
              </a:ext>
            </a:extLst>
          </p:cNvPr>
          <p:cNvSpPr txBox="1"/>
          <p:nvPr/>
        </p:nvSpPr>
        <p:spPr>
          <a:xfrm>
            <a:off x="466830" y="1359455"/>
            <a:ext cx="4723238" cy="13042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th-TH" sz="1800" dirty="0">
                <a:solidFill>
                  <a:schemeClr val="accent5">
                    <a:lumMod val="20000"/>
                    <a:lumOff val="80000"/>
                  </a:schemeClr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แชร์ </a:t>
            </a:r>
            <a:r>
              <a:rPr lang="en-GB" sz="1800" dirty="0">
                <a:solidFill>
                  <a:schemeClr val="accent5">
                    <a:lumMod val="20000"/>
                    <a:lumOff val="80000"/>
                  </a:schemeClr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Report </a:t>
            </a:r>
            <a:r>
              <a:rPr lang="th-TH" sz="1800" dirty="0">
                <a:solidFill>
                  <a:schemeClr val="accent5">
                    <a:lumMod val="20000"/>
                    <a:lumOff val="80000"/>
                  </a:schemeClr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ผ่าน </a:t>
            </a:r>
            <a:r>
              <a:rPr lang="en-GB" sz="1800" dirty="0">
                <a:solidFill>
                  <a:schemeClr val="accent5">
                    <a:lumMod val="20000"/>
                    <a:lumOff val="80000"/>
                  </a:schemeClr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Power BI Service</a:t>
            </a:r>
            <a:r>
              <a:rPr lang="th-TH" sz="1800" dirty="0">
                <a:solidFill>
                  <a:schemeClr val="accent5">
                    <a:lumMod val="20000"/>
                    <a:lumOff val="80000"/>
                  </a:schemeClr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th-TH" sz="1800" dirty="0">
                <a:solidFill>
                  <a:schemeClr val="accent5">
                    <a:lumMod val="20000"/>
                    <a:lumOff val="80000"/>
                  </a:schemeClr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กำหนดสิทธิ์การเข้าถึงข้อมูล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th-TH" sz="1800" dirty="0">
                <a:solidFill>
                  <a:schemeClr val="accent5">
                    <a:lumMod val="20000"/>
                    <a:lumOff val="80000"/>
                  </a:schemeClr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ทำงานร่วมกับทีมแบบออนไลน์</a:t>
            </a:r>
          </a:p>
        </p:txBody>
      </p:sp>
    </p:spTree>
    <p:extLst>
      <p:ext uri="{BB962C8B-B14F-4D97-AF65-F5344CB8AC3E}">
        <p14:creationId xmlns:p14="http://schemas.microsoft.com/office/powerpoint/2010/main" val="34763608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4C5E10-1473-6308-26CE-FDC1AA3824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t"/>
            <a:r>
              <a:rPr lang="th-TH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เปิด </a:t>
            </a:r>
            <a:r>
              <a:rPr lang="en-GB" b="1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Power BI Desktop</a:t>
            </a:r>
            <a:endParaRPr lang="en-GB" dirty="0">
              <a:solidFill>
                <a:schemeClr val="accent5">
                  <a:lumMod val="20000"/>
                  <a:lumOff val="80000"/>
                </a:schemeClr>
              </a:solidFill>
            </a:endParaRPr>
          </a:p>
          <a:p>
            <a:pPr fontAlgn="t"/>
            <a:r>
              <a:rPr lang="en-GB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Get Data → </a:t>
            </a:r>
            <a:r>
              <a:rPr lang="en-GB" b="1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Excel</a:t>
            </a:r>
            <a:endParaRPr lang="en-GB" dirty="0">
              <a:solidFill>
                <a:schemeClr val="accent5">
                  <a:lumMod val="20000"/>
                  <a:lumOff val="80000"/>
                </a:schemeClr>
              </a:solidFill>
            </a:endParaRPr>
          </a:p>
          <a:p>
            <a:pPr fontAlgn="t"/>
            <a:r>
              <a:rPr lang="th-TH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เลือกไฟล์ </a:t>
            </a:r>
            <a:r>
              <a:rPr lang="en-GB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workshop_data.xlsx</a:t>
            </a:r>
          </a:p>
          <a:p>
            <a:pPr fontAlgn="t"/>
            <a:r>
              <a:rPr lang="en-GB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Transform Data → </a:t>
            </a:r>
            <a:r>
              <a:rPr lang="th-TH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ทำ </a:t>
            </a:r>
            <a:r>
              <a:rPr lang="en-GB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Power Query</a:t>
            </a:r>
          </a:p>
          <a:p>
            <a:pPr fontAlgn="t"/>
            <a:r>
              <a:rPr lang="en-GB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Close &amp; Apply → </a:t>
            </a:r>
            <a:r>
              <a:rPr lang="th-TH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สร้างกราฟ / </a:t>
            </a:r>
            <a:r>
              <a:rPr lang="en-GB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Slicer</a:t>
            </a:r>
          </a:p>
          <a:p>
            <a:endParaRPr lang="th-TH" dirty="0">
              <a:solidFill>
                <a:schemeClr val="accent5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7FB5384-8E12-A70E-45AE-15EE6820F0F5}"/>
              </a:ext>
            </a:extLst>
          </p:cNvPr>
          <p:cNvSpPr txBox="1"/>
          <p:nvPr/>
        </p:nvSpPr>
        <p:spPr>
          <a:xfrm>
            <a:off x="203201" y="209753"/>
            <a:ext cx="5080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buNone/>
            </a:pPr>
            <a:r>
              <a:rPr lang="th-TH" sz="2000" b="1" i="0" dirty="0">
                <a:solidFill>
                  <a:srgbClr val="ECBC14"/>
                </a:solidFill>
                <a:effectLst/>
                <a:latin typeface="Prompt" panose="00000500000000000000" pitchFamily="2" charset="-34"/>
                <a:cs typeface="Prompt" panose="00000500000000000000" pitchFamily="2" charset="-34"/>
              </a:rPr>
              <a:t>การนำเข้าและจัดการข้อมูลด้วย </a:t>
            </a:r>
            <a:r>
              <a:rPr lang="en-GB" sz="2000" b="1" i="0" dirty="0">
                <a:solidFill>
                  <a:srgbClr val="ECBC14"/>
                </a:solidFill>
                <a:effectLst/>
                <a:latin typeface="Prompt" panose="00000500000000000000" pitchFamily="2" charset="-34"/>
                <a:cs typeface="Prompt" panose="00000500000000000000" pitchFamily="2" charset="-34"/>
              </a:rPr>
              <a:t>Power BI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E590E9D-1DAC-F882-B01A-85E574A4CB07}"/>
              </a:ext>
            </a:extLst>
          </p:cNvPr>
          <p:cNvSpPr txBox="1"/>
          <p:nvPr/>
        </p:nvSpPr>
        <p:spPr>
          <a:xfrm>
            <a:off x="6561667" y="5105137"/>
            <a:ext cx="1778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buNone/>
            </a:pPr>
            <a:r>
              <a:rPr lang="en-GB" sz="1800" b="1" i="0" dirty="0">
                <a:solidFill>
                  <a:srgbClr val="F0F6FC"/>
                </a:solidFill>
                <a:effectLst/>
                <a:latin typeface="Mona Sans VF"/>
                <a:hlinkClick r:id="rId2"/>
              </a:rPr>
              <a:t>Workshop 1</a:t>
            </a:r>
            <a:endParaRPr lang="en-GB" sz="1800" b="1" i="0" dirty="0">
              <a:solidFill>
                <a:srgbClr val="F0F6FC"/>
              </a:solidFill>
              <a:effectLst/>
              <a:latin typeface="Mona Sans VF"/>
            </a:endParaRPr>
          </a:p>
        </p:txBody>
      </p:sp>
    </p:spTree>
    <p:extLst>
      <p:ext uri="{BB962C8B-B14F-4D97-AF65-F5344CB8AC3E}">
        <p14:creationId xmlns:p14="http://schemas.microsoft.com/office/powerpoint/2010/main" val="28354886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D2D3D0-7A36-F4B5-5BC3-0751D4EB81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>
                <a:solidFill>
                  <a:srgbClr val="FFC000"/>
                </a:solidFill>
              </a:rPr>
              <a:t>Workshop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A9E0AD-6171-5B1A-22DB-425E27D421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8000" y="1333501"/>
            <a:ext cx="9144000" cy="2270311"/>
          </a:xfrm>
        </p:spPr>
        <p:txBody>
          <a:bodyPr/>
          <a:lstStyle/>
          <a:p>
            <a:pPr marL="0" indent="0">
              <a:buNone/>
            </a:pPr>
            <a:r>
              <a:rPr lang="en-GB" dirty="0">
                <a:solidFill>
                  <a:schemeClr val="accent3">
                    <a:lumMod val="40000"/>
                    <a:lumOff val="60000"/>
                  </a:schemeClr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https://github.com/thassanunsat-art/WS_POwerBI</a:t>
            </a:r>
            <a:endParaRPr lang="en-GB" dirty="0">
              <a:solidFill>
                <a:schemeClr val="accent3">
                  <a:lumMod val="40000"/>
                  <a:lumOff val="60000"/>
                </a:schemeClr>
              </a:solidFill>
            </a:endParaRPr>
          </a:p>
          <a:p>
            <a:r>
              <a:rPr lang="en-GB" u="sng" dirty="0">
                <a:solidFill>
                  <a:schemeClr val="accent3">
                    <a:lumMod val="40000"/>
                    <a:lumOff val="60000"/>
                  </a:schemeClr>
                </a:solidFill>
                <a:hlinkClick r:id="rId3" tooltip="WS1-Get data.md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WS1-Get data.md</a:t>
            </a:r>
            <a:endParaRPr lang="en-GB" u="sng" dirty="0">
              <a:solidFill>
                <a:schemeClr val="accent3">
                  <a:lumMod val="40000"/>
                  <a:lumOff val="60000"/>
                </a:schemeClr>
              </a:solidFill>
            </a:endParaRPr>
          </a:p>
          <a:p>
            <a:r>
              <a:rPr lang="en-GB" u="sng" dirty="0">
                <a:solidFill>
                  <a:schemeClr val="accent3">
                    <a:lumMod val="40000"/>
                    <a:lumOff val="60000"/>
                  </a:schemeClr>
                </a:solidFill>
                <a:hlinkClick r:id="rId4" tooltip="WS2-Data Cleaning.md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WS2-Data Cleaning.md</a:t>
            </a:r>
            <a:endParaRPr lang="en-GB" u="sng" dirty="0">
              <a:solidFill>
                <a:schemeClr val="accent3">
                  <a:lumMod val="40000"/>
                  <a:lumOff val="60000"/>
                </a:schemeClr>
              </a:solidFill>
            </a:endParaRPr>
          </a:p>
          <a:p>
            <a:r>
              <a:rPr lang="en-GB" dirty="0">
                <a:solidFill>
                  <a:schemeClr val="accent3">
                    <a:lumMod val="40000"/>
                    <a:lumOff val="60000"/>
                  </a:schemeClr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WS3-Data Model.md </a:t>
            </a:r>
            <a:endParaRPr lang="en-GB" dirty="0">
              <a:solidFill>
                <a:schemeClr val="accent3">
                  <a:lumMod val="40000"/>
                  <a:lumOff val="60000"/>
                </a:schemeClr>
              </a:solidFill>
            </a:endParaRPr>
          </a:p>
          <a:p>
            <a:r>
              <a:rPr lang="en-GB" dirty="0">
                <a:solidFill>
                  <a:schemeClr val="accent3">
                    <a:lumMod val="40000"/>
                    <a:lumOff val="60000"/>
                  </a:schemeClr>
                </a:solidFill>
                <a:hlinkClick r:id="rId6" tooltip="WS4-Visualization.md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WS4-Visualization.md</a:t>
            </a:r>
            <a:endParaRPr lang="en-GB" dirty="0">
              <a:solidFill>
                <a:schemeClr val="accent3">
                  <a:lumMod val="40000"/>
                  <a:lumOff val="60000"/>
                </a:schemeClr>
              </a:solidFill>
            </a:endParaRPr>
          </a:p>
          <a:p>
            <a:endParaRPr lang="th-TH" dirty="0">
              <a:solidFill>
                <a:schemeClr val="bg2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B8D5016-EF63-FDBA-6D19-EAC78D0EC09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46569" y="2767395"/>
            <a:ext cx="6158399" cy="25918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71122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238</TotalTime>
  <Words>461</Words>
  <Application>Microsoft Office PowerPoint</Application>
  <PresentationFormat>Custom</PresentationFormat>
  <Paragraphs>91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Arial</vt:lpstr>
      <vt:lpstr>Calibri</vt:lpstr>
      <vt:lpstr>Mona Sans VF</vt:lpstr>
      <vt:lpstr>Prompt</vt:lpstr>
      <vt:lpstr>TH SarabunPSK</vt:lpstr>
      <vt:lpstr>Office Theme</vt:lpstr>
      <vt:lpstr>PowerPoint Presentation</vt:lpstr>
      <vt:lpstr>วัตถุประสงค์การอบรม</vt:lpstr>
      <vt:lpstr>Power BI ใช้กับงานอะไรได้บ้าง ?</vt:lpstr>
      <vt:lpstr>PowerPoint Presentation</vt:lpstr>
      <vt:lpstr>Workflow การทำงานของ Power BI</vt:lpstr>
      <vt:lpstr>การเชื่อมต่อข้อมูล (Connect Data)</vt:lpstr>
      <vt:lpstr>Power Query คืออะไร</vt:lpstr>
      <vt:lpstr>ตัวอย่างการทำความสะอาดข้อมูล</vt:lpstr>
      <vt:lpstr>Data Model</vt:lpstr>
      <vt:lpstr>การวิเคราะห์ด้วย DAX (Data Analysis Expressions)</vt:lpstr>
      <vt:lpstr>PowerPoint Presentation</vt:lpstr>
      <vt:lpstr>PowerPoint Presentation</vt:lpstr>
      <vt:lpstr>PowerPoint Presentation</vt:lpstr>
      <vt:lpstr>PowerPoint Presentation</vt:lpstr>
      <vt:lpstr>Workshop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Thassanun Satchuchon</dc:creator>
  <cp:keywords/>
  <dc:description>generated using python-pptx</dc:description>
  <cp:lastModifiedBy>Thassanun Satchuchon</cp:lastModifiedBy>
  <cp:revision>17</cp:revision>
  <dcterms:created xsi:type="dcterms:W3CDTF">2026-05-25T03:33:16Z</dcterms:created>
  <dcterms:modified xsi:type="dcterms:W3CDTF">2026-05-26T03:08:07Z</dcterms:modified>
  <cp:category/>
</cp:coreProperties>
</file>